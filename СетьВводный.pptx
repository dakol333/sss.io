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7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9" r:id="rId6"/>
    <p:sldMasterId id="2147483661" r:id="rId7"/>
    <p:sldMasterId id="2147483663" r:id="rId8"/>
    <p:sldMasterId id="2147483665" r:id="rId9"/>
    <p:sldMasterId id="2147483667" r:id="rId10"/>
    <p:sldMasterId id="2147483669" r:id="rId11"/>
    <p:sldMasterId id="2147483671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6D73B9-EFAE-4CFE-BD95-DC9B30959D3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768EB5B-FA16-4FF4-A8D2-F064CDC9E86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BAA4510-B32F-4C55-9101-5BF17A979C6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C97BC2C-6AF0-4C34-8F53-725F1C46B42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14F0023-7432-4B26-AD5D-1EB26C72A56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67E93C5-088D-4867-B579-4914305A97C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EC81DB5-8B54-44AB-8709-131E31F6037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E5C82D4C-5A31-4202-8173-19F79243BAA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431D2351-558C-4A59-A881-6FA51602EA7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69A03E6A-91B6-4D6C-965A-08F69528A83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414D1B9B-20DA-4F66-B2F1-4A1712CD483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A4FB45F8-C1DF-44E9-9956-A3A30F2FF1C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3E3969B2-C545-494A-9BA3-E1E76C03348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6A97C83A-E802-4D64-957B-E238A6B74BD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8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9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10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11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2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3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6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27EFB2-6F9B-435F-99A8-65C0198D5969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Для правки структуры щёлкните мышью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 структуры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256839-B288-477A-8BAA-1CA2CD137D4C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03A53C-E7F6-410C-8FDF-E3814CBE6A15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ECC070-9FCE-42CC-8157-C8ECD8D5BEB1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  <p:sldLayoutId id="2147483656" r:id="rId3"/>
    <p:sldLayoutId id="2147483657" r:id="rId4"/>
    <p:sldLayoutId id="2147483658" r:id="rId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60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6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Образец текста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FB45A8-36BC-487C-93E9-44231B4FA869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11C84E-A8C0-4C20-B131-EAC3E9A31454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7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86F766-845A-4B61-B4FD-5B954161F60C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5A71A1-5632-4ECA-9C58-0E61D10BF339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F4690E-2CEB-4D5C-810A-953E47BABA57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1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CFF36E-1BF1-4FBB-900E-8ACE2FC4F058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 структуры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 структуры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"/>
              </a:rPr>
              <a:t>Четвёртый уровень структуры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"/>
              </a:rPr>
              <a:t>Пятый уровень структуры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"/>
              </a:rPr>
              <a:t>Шестой уровень структуры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"/>
              </a:rPr>
              <a:t>Седьмой уровень структуры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1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BF6545-47C9-4CB7-A4D3-9F59723DD0E0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s://msk.rt.ru/checkup" TargetMode="External"/><Relationship Id="rId2" Type="http://schemas.openxmlformats.org/officeDocument/2006/relationships/hyperlink" Target="https://msk.rt.ru/checkup" TargetMode="External"/><Relationship Id="rId3" Type="http://schemas.openxmlformats.org/officeDocument/2006/relationships/hyperlink" Target="https://msk.rt.ru/checkup" TargetMode="External"/><Relationship Id="rId4" Type="http://schemas.openxmlformats.org/officeDocument/2006/relationships/hyperlink" Target="https://msk.rt.ru/checkup" TargetMode="External"/><Relationship Id="rId5" Type="http://schemas.openxmlformats.org/officeDocument/2006/relationships/hyperlink" Target="https://msk.rt.ru/checkup" TargetMode="External"/><Relationship Id="rId6" Type="http://schemas.openxmlformats.org/officeDocument/2006/relationships/hyperlink" Target="https://msk.rt.ru/checkup" TargetMode="External"/><Relationship Id="rId7" Type="http://schemas.openxmlformats.org/officeDocument/2006/relationships/hyperlink" Target="https://msk.rt.ru/checkup" TargetMode="External"/><Relationship Id="rId8" Type="http://schemas.openxmlformats.org/officeDocument/2006/relationships/hyperlink" Target="https://msk.rt.ru/checkup" TargetMode="External"/><Relationship Id="rId9" Type="http://schemas.openxmlformats.org/officeDocument/2006/relationships/hyperlink" Target="https://msk.rt.ru/checkup" TargetMode="External"/><Relationship Id="rId10" Type="http://schemas.openxmlformats.org/officeDocument/2006/relationships/hyperlink" Target="https://msk.rt.ru/checkup" TargetMode="External"/><Relationship Id="rId11" Type="http://schemas.openxmlformats.org/officeDocument/2006/relationships/hyperlink" Target="https://msk.rt.ru/checkup" TargetMode="External"/><Relationship Id="rId12" Type="http://schemas.openxmlformats.org/officeDocument/2006/relationships/hyperlink" Target="https://msk.rt.ru/checkup" TargetMode="External"/><Relationship Id="rId13" Type="http://schemas.openxmlformats.org/officeDocument/2006/relationships/hyperlink" Target="https://msk.rt.ru/checkup" TargetMode="External"/><Relationship Id="rId14" Type="http://schemas.openxmlformats.org/officeDocument/2006/relationships/hyperlink" Target="https://msk.rt.ru/checkup" TargetMode="External"/><Relationship Id="rId15" Type="http://schemas.openxmlformats.org/officeDocument/2006/relationships/hyperlink" Target="https://msk.rt.ru/checkup" TargetMode="External"/><Relationship Id="rId16" Type="http://schemas.openxmlformats.org/officeDocument/2006/relationships/hyperlink" Target="https://msk.rt.ru/checkup" TargetMode="External"/><Relationship Id="rId17" Type="http://schemas.openxmlformats.org/officeDocument/2006/relationships/hyperlink" Target="https://msk.rt.ru/checkup" TargetMode="External"/><Relationship Id="rId18" Type="http://schemas.openxmlformats.org/officeDocument/2006/relationships/hyperlink" Target="https://msk.rt.ru/checkup" TargetMode="External"/><Relationship Id="rId19" Type="http://schemas.openxmlformats.org/officeDocument/2006/relationships/hyperlink" Target="https://msk.rt.ru/checkup" TargetMode="External"/><Relationship Id="rId20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trike="noStrike" u="none">
                <a:solidFill>
                  <a:schemeClr val="dk1"/>
                </a:solidFill>
                <a:uFillTx/>
                <a:latin typeface="Calibri Light"/>
              </a:rPr>
              <a:t>Сеть</a:t>
            </a:r>
            <a:r>
              <a:rPr b="0" lang="en-US" sz="6000" strike="noStrike" u="none">
                <a:solidFill>
                  <a:schemeClr val="dk1"/>
                </a:solidFill>
                <a:uFillTx/>
                <a:latin typeface="Calibri Light"/>
              </a:rPr>
              <a:t>. </a:t>
            </a:r>
            <a:r>
              <a:rPr b="0" lang="ru-RU" sz="6000" strike="noStrike" u="none">
                <a:solidFill>
                  <a:schemeClr val="dk1"/>
                </a:solidFill>
                <a:uFillTx/>
                <a:latin typeface="Calibri Light"/>
              </a:rPr>
              <a:t>Интернет</a:t>
            </a:r>
            <a:endParaRPr b="0" lang="ru-RU" sz="6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Цифровая грамотность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0" y="1298520"/>
            <a:ext cx="12191760" cy="555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1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До распространения Интернета во главе угла стояла компьютерная грамотность – понимание того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как решать задачи с помощью компьютера (умение пользоваться компьютером):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- Люди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 пользующиеся мышью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м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огут испытывать проблемы с сенсорным экраном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и наоборот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- Люди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привыкшие к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windows,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могут испытывать проблемы при переходе на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unix/linux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Цифровая грамотность – умение оптимально использовать всемирную паутину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: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искать достоверную информацию в сети и ответственно ее использовать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: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-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поиск (умение искать данные и ориентироваться в них)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- использование (доступной информации много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но не все данные важны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точны или актуальны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.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Способность анализировать информацию (отделить факты от домыслов) – крайне важный компьютерный навык)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- распространение Вами данных (выражение своих мыслей по некоторой теме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/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вопросу и публикация их в соцсетях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)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718560" y="4176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1200" strike="noStrike" u="none">
                <a:solidFill>
                  <a:schemeClr val="dk1"/>
                </a:solidFill>
                <a:uFillTx/>
                <a:latin typeface="Calibri Light"/>
              </a:rPr>
              <a:t>Интернет не равно Всемирная</a:t>
            </a: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 </a:t>
            </a:r>
            <a:r>
              <a:rPr b="0" lang="ru-RU" sz="1200" strike="noStrike" u="none">
                <a:solidFill>
                  <a:schemeClr val="dk1"/>
                </a:solidFill>
                <a:uFillTx/>
                <a:latin typeface="Calibri Light"/>
              </a:rPr>
              <a:t>паутина</a:t>
            </a:r>
            <a:endParaRPr b="0" lang="ru-RU" sz="1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73" name="Объект 4" descr=""/>
          <p:cNvPicPr/>
          <p:nvPr/>
        </p:nvPicPr>
        <p:blipFill>
          <a:blip r:embed="rId1"/>
          <a:stretch/>
        </p:blipFill>
        <p:spPr>
          <a:xfrm>
            <a:off x="2156400" y="1773000"/>
            <a:ext cx="2012040" cy="437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TextBox 5"/>
          <p:cNvSpPr/>
          <p:nvPr/>
        </p:nvSpPr>
        <p:spPr>
          <a:xfrm>
            <a:off x="61560" y="1960200"/>
            <a:ext cx="19756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Обычный (поверхностный) 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интернет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" name="TextBox 8"/>
          <p:cNvSpPr/>
          <p:nvPr/>
        </p:nvSpPr>
        <p:spPr>
          <a:xfrm>
            <a:off x="61560" y="4084200"/>
            <a:ext cx="2054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Глубокий интернет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TextBox 9"/>
          <p:cNvSpPr/>
          <p:nvPr/>
        </p:nvSpPr>
        <p:spPr>
          <a:xfrm>
            <a:off x="61560" y="5350320"/>
            <a:ext cx="1313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Даркнет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TextBox 19"/>
          <p:cNvSpPr/>
          <p:nvPr/>
        </p:nvSpPr>
        <p:spPr>
          <a:xfrm>
            <a:off x="6507720" y="5160600"/>
            <a:ext cx="550368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Наиболее закрытая часть глобальной сети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построенная поверх обычного Интернет в целях анонимности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. 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Для доступа нужны специальные браузеры-программы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ru-RU" sz="1800" strike="noStrike" u="none">
                <a:solidFill>
                  <a:srgbClr val="17181f"/>
                </a:solidFill>
                <a:uFillTx/>
                <a:latin typeface="Inter var"/>
              </a:rPr>
              <a:t>(</a:t>
            </a:r>
            <a:r>
              <a:rPr b="0" lang="en-US" sz="1800" strike="noStrike" u="none">
                <a:solidFill>
                  <a:srgbClr val="17181f"/>
                </a:solidFill>
                <a:uFillTx/>
                <a:latin typeface="Inter var"/>
              </a:rPr>
              <a:t>TOR - </a:t>
            </a:r>
            <a:r>
              <a:rPr b="0" lang="ru-RU" sz="1800" strike="noStrike" u="none">
                <a:solidFill>
                  <a:srgbClr val="17181f"/>
                </a:solidFill>
                <a:uFillTx/>
                <a:latin typeface="Inter var"/>
              </a:rPr>
              <a:t>сокращенно от англ. </a:t>
            </a:r>
            <a:r>
              <a:rPr b="0" lang="en" sz="1800" strike="noStrike" u="none">
                <a:solidFill>
                  <a:srgbClr val="17181f"/>
                </a:solidFill>
                <a:uFillTx/>
                <a:latin typeface="Inter var"/>
              </a:rPr>
              <a:t>The Onion Router, Freenet, I2P </a:t>
            </a:r>
            <a:r>
              <a:rPr b="0" lang="ru-RU" sz="1800" strike="noStrike" u="none">
                <a:solidFill>
                  <a:srgbClr val="17181f"/>
                </a:solidFill>
                <a:uFillTx/>
                <a:latin typeface="Inter var"/>
              </a:rPr>
              <a:t> и пр</a:t>
            </a:r>
            <a:r>
              <a:rPr b="0" lang="en-US" sz="1800" strike="noStrike" u="none">
                <a:solidFill>
                  <a:srgbClr val="17181f"/>
                </a:solidFill>
                <a:uFillTx/>
                <a:latin typeface="Inter var"/>
              </a:rPr>
              <a:t>.</a:t>
            </a:r>
            <a:r>
              <a:rPr b="0" lang="en" sz="1800" strike="noStrike" u="none">
                <a:solidFill>
                  <a:srgbClr val="17181f"/>
                </a:solidFill>
                <a:uFillTx/>
                <a:latin typeface="Inter var"/>
              </a:rPr>
              <a:t>)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.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TextBox 20"/>
          <p:cNvSpPr/>
          <p:nvPr/>
        </p:nvSpPr>
        <p:spPr>
          <a:xfrm>
            <a:off x="6626520" y="987840"/>
            <a:ext cx="5565240" cy="42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Открытая мировая коммуникационная инфраструктура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, с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остоящая из взаимосвязанных компьютерных сетей и обеспечивающая доступ к удаленной информации и обмен информацией между компьютерами (проводная и беспроводная):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- оптоволокно (земляные или подводные работы)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- радиоволны (сотовая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/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мобильная связь (формат 3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G,4G,5G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),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 wi-fi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)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, п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ередаваемый по 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в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оздуху с помощью спутника (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SpaceX, 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МТС к 2030 году планирует прямое соединение спутника и смартфона)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но надо платить за связь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- T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aara 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от 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Google: 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если прокладка оптоволокна нерентабельна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а за спутниковую связь не платят клиенты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то лазерные лучи (в Дронах для получения канала)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Пропускная способность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838080" y="1460520"/>
            <a:ext cx="10515240" cy="539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Важно не путать пропускную способность со скоростью интернета: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Пропускная способность — это теоретический максимум, заложенный в технологии (максимальный объём данных, который может быть передан по каналу связи за единицу времени)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Скорость интернета — реальная передача данных, которую вы получаете в конкретный момент</a:t>
            </a:r>
            <a:r>
              <a:rPr b="0" lang="en" sz="2800" strike="noStrike" u="none">
                <a:solidFill>
                  <a:schemeClr val="dk1"/>
                </a:solidFill>
                <a:uFillTx/>
                <a:latin typeface="Calibri"/>
              </a:rPr>
              <a:t>.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Она всегда ниже пропускной способности из-за помех, расстояния, загруженности сети и других факторов.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Чем меньше пропускная способность,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тем медленнее сеть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Оцените скорость Интернета на своем ПК - </a:t>
            </a:r>
            <a:r>
              <a:rPr b="0" lang="en" sz="2800" strike="noStrike" u="none">
                <a:solidFill>
                  <a:srgbClr val="0563c1"/>
                </a:solidFill>
                <a:uFillTx/>
                <a:latin typeface="Arial"/>
                <a:hlinkClick r:id="rId1"/>
              </a:rPr>
              <a:t>https://msk.rt.ru › checkup</a:t>
            </a:r>
            <a:r>
              <a:rPr b="0" lang="ru-RU" sz="2800" strike="noStrike" u="none">
                <a:solidFill>
                  <a:srgbClr val="0563c1"/>
                </a:solidFill>
                <a:uFillTx/>
                <a:latin typeface="Arial"/>
                <a:hlinkClick r:id="rId2"/>
              </a:rPr>
              <a:t> (сфотографируй значение скорости)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rgbClr val="0563c1"/>
                </a:solidFill>
                <a:uFillTx/>
                <a:latin typeface="Arial"/>
                <a:hlinkClick r:id="rId3"/>
              </a:rPr>
              <a:t>(Спроси у Квена: файл размером 1 Гб </a:t>
            </a:r>
            <a:r>
              <a:rPr b="0" lang="ru-RU" sz="2800" strike="noStrike" u="sng">
                <a:solidFill>
                  <a:srgbClr val="0563c1"/>
                </a:solidFill>
                <a:uFillTx/>
                <a:latin typeface="Arial"/>
                <a:hlinkClick r:id="rId4"/>
              </a:rPr>
              <a:t>будет скачиваться за какое время на скорости &lt;введи свое значение</a:t>
            </a:r>
            <a:r>
              <a:rPr b="0" lang="en-US" sz="2800" strike="noStrike" u="sng">
                <a:solidFill>
                  <a:srgbClr val="0563c1"/>
                </a:solidFill>
                <a:uFillTx/>
                <a:latin typeface="Arial"/>
                <a:hlinkClick r:id="rId5"/>
              </a:rPr>
              <a:t>&gt;?</a:t>
            </a:r>
            <a:r>
              <a:rPr b="0" lang="ru-RU" sz="2800" strike="noStrike" u="none">
                <a:solidFill>
                  <a:srgbClr val="0563c1"/>
                </a:solidFill>
                <a:uFillTx/>
                <a:latin typeface="Arial"/>
                <a:hlinkClick r:id="rId6"/>
              </a:rPr>
              <a:t>)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rgbClr val="0563c1"/>
                </a:solidFill>
                <a:uFillTx/>
                <a:latin typeface="Arial"/>
                <a:hlinkClick r:id="rId7"/>
              </a:rPr>
              <a:t>(У смартфона нет провода</a:t>
            </a:r>
            <a:r>
              <a:rPr b="0" lang="en-US" sz="2800" strike="noStrike" u="none">
                <a:solidFill>
                  <a:srgbClr val="0563c1"/>
                </a:solidFill>
                <a:uFillTx/>
                <a:latin typeface="Arial"/>
                <a:hlinkClick r:id="rId8"/>
              </a:rPr>
              <a:t>, </a:t>
            </a:r>
            <a:r>
              <a:rPr b="0" lang="ru-RU" sz="2800" strike="noStrike" u="none">
                <a:solidFill>
                  <a:srgbClr val="0563c1"/>
                </a:solidFill>
                <a:uFillTx/>
                <a:latin typeface="Arial"/>
                <a:hlinkClick r:id="rId9"/>
              </a:rPr>
              <a:t>как в классе</a:t>
            </a:r>
            <a:r>
              <a:rPr b="0" lang="en-US" sz="2800" strike="noStrike" u="none">
                <a:solidFill>
                  <a:srgbClr val="0563c1"/>
                </a:solidFill>
                <a:uFillTx/>
                <a:latin typeface="Arial"/>
                <a:hlinkClick r:id="rId10"/>
              </a:rPr>
              <a:t> </a:t>
            </a:r>
            <a:r>
              <a:rPr b="0" lang="ru-RU" sz="2800" strike="noStrike" u="none">
                <a:solidFill>
                  <a:srgbClr val="0563c1"/>
                </a:solidFill>
                <a:uFillTx/>
                <a:latin typeface="Arial"/>
                <a:hlinkClick r:id="rId11"/>
              </a:rPr>
              <a:t>у компьютеров</a:t>
            </a:r>
            <a:r>
              <a:rPr b="0" lang="en-US" sz="2800" strike="noStrike" u="none">
                <a:solidFill>
                  <a:srgbClr val="0563c1"/>
                </a:solidFill>
                <a:uFillTx/>
                <a:latin typeface="Arial"/>
                <a:hlinkClick r:id="rId12"/>
              </a:rPr>
              <a:t>.</a:t>
            </a:r>
            <a:r>
              <a:rPr b="0" lang="ru-RU" sz="2800" strike="noStrike" u="none">
                <a:solidFill>
                  <a:srgbClr val="0563c1"/>
                </a:solidFill>
                <a:uFillTx/>
                <a:latin typeface="Arial"/>
                <a:hlinkClick r:id="rId13"/>
              </a:rPr>
              <a:t> Спроси у квена про пропускную способность мобильной связи формата 3</a:t>
            </a:r>
            <a:r>
              <a:rPr b="0" lang="en-US" sz="2800" strike="noStrike" u="none">
                <a:solidFill>
                  <a:srgbClr val="0563c1"/>
                </a:solidFill>
                <a:uFillTx/>
                <a:latin typeface="Arial"/>
                <a:hlinkClick r:id="rId14"/>
              </a:rPr>
              <a:t>G,</a:t>
            </a:r>
            <a:r>
              <a:rPr b="0" lang="ru-RU" sz="2800" strike="noStrike" u="none">
                <a:solidFill>
                  <a:srgbClr val="0563c1"/>
                </a:solidFill>
                <a:uFillTx/>
                <a:latin typeface="Arial"/>
                <a:hlinkClick r:id="rId15"/>
              </a:rPr>
              <a:t> 4</a:t>
            </a:r>
            <a:r>
              <a:rPr b="0" lang="en-US" sz="2800" strike="noStrike" u="none">
                <a:solidFill>
                  <a:srgbClr val="0563c1"/>
                </a:solidFill>
                <a:uFillTx/>
                <a:latin typeface="Arial"/>
                <a:hlinkClick r:id="rId16"/>
              </a:rPr>
              <a:t>G,</a:t>
            </a:r>
            <a:r>
              <a:rPr b="0" lang="ru-RU" sz="2800" strike="noStrike" u="none">
                <a:solidFill>
                  <a:srgbClr val="0563c1"/>
                </a:solidFill>
                <a:uFillTx/>
                <a:latin typeface="Arial"/>
                <a:hlinkClick r:id="rId17"/>
              </a:rPr>
              <a:t> 5</a:t>
            </a:r>
            <a:r>
              <a:rPr b="0" lang="en-US" sz="2800" strike="noStrike" u="none">
                <a:solidFill>
                  <a:srgbClr val="0563c1"/>
                </a:solidFill>
                <a:uFillTx/>
                <a:latin typeface="Arial"/>
                <a:hlinkClick r:id="rId18"/>
              </a:rPr>
              <a:t>G. </a:t>
            </a:r>
            <a:r>
              <a:rPr b="0" lang="ru-RU" sz="2800" strike="noStrike" u="none">
                <a:solidFill>
                  <a:srgbClr val="0563c1"/>
                </a:solidFill>
                <a:uFillTx/>
                <a:latin typeface="Arial"/>
                <a:hlinkClick r:id="rId19"/>
              </a:rPr>
              <a:t>Сфоткай скорости разных форматов)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Облако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66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Стив Джобс (1955-2011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с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оучредитель компании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Apple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)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: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“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Мне не нужен жесткий диск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если быстрее подключиться к серверу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”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Давайте сравним скорости записи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: 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Спроси у Квена - Как узнать реальную скорость чтения/записи диска? Выполни инструкцию квена и сфотографируй значение величины скорости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Можем ли мы согласиться с утверждением Джобса?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Стриминг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Рид Хастингс (род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. 1960,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соучредитель компании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Netflix): 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“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В следующие 10 лет прирост [клиентов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]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 будет идти за счет стриминга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”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История стриминга началась в 1910 году: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Джордж Оуэн Сквайр в 1910 г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.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Изобрел способ передавать музыку по проводам (потом продавал музыку для лифтов за месячную плату)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Стриминг позволяет смотреть передачи в прямом эфире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Недостатки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: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быстрый и стабильный интернет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может стоить дорого из-за потребления сетевого трафика (это не пропускная способность! Спроси у квена про сетевой трафик – что это?)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Маршрутизация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0" y="1444680"/>
            <a:ext cx="12191760" cy="541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Узел сети – это любое устройство,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посылающее или принимающее данные через сеть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Компьютер (узел сети) в одной части планеты Земля НЕЛЬЗЯ напрямую подключить к компьютеру (узлу сети) в другой части планеты Земля: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сигнал идет от узла к узлу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пока не достигнет цели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В передающем узле данные ОБЯЗАТЕЛЬНО разбиваются на пакеты в связи с требованиями канала связи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например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чтобы БЫСТРО передать данные и потом БЫСТРО проверить на ошибки (для медных проводов – до 1500 байт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оптоволокно – до 9000 байт)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Поиск наиболее быстрого и надежного пути между двумя устройствами (узлами сети) называют маршрутизацией: стараются,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чтобы ВСЕ пакеты одного соединения двигались по одному маршруту (иначе,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например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 будет неправильный порядок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 п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акетов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 что вызовет повторные передачи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а значит более низкую скорость)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Маршрутизация в смартфон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Спросить у квена –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sim-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карта сама может ли передавать и принимать данные по сети? Если нет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то что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sim-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карте нужно для работы в интернет?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(ответ сфотографировать)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Как узнать адрес Вашего узла в сети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19999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Спросить у квена – как узнать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IP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-адрес моего смартфона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в Интернет ? 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В поликлинике –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ip-а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дреса узлам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сети выдает администратор 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(адрес принтера и др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.)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Спроси к квена как узнать свой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ip-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адрес на машине с астра линукс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. 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В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ыполни инструкции и сфоткай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91" name="Рисунок 3" descr=""/>
          <p:cNvPicPr/>
          <p:nvPr/>
        </p:nvPicPr>
        <p:blipFill>
          <a:blip r:embed="rId1"/>
          <a:stretch/>
        </p:blipFill>
        <p:spPr>
          <a:xfrm>
            <a:off x="6198840" y="1687680"/>
            <a:ext cx="5992920" cy="5032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Пошли сообщение по сети соседу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Разбиваемся на группы по две машины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: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1-2, 3-4, 5-6, …, 21-22, 23-24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-25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Спроси у квена как послать сообщение по сети на соседнюю машину с астра линукс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.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Отправь соседу сообщение Привет с машины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&lt;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Номер машины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&gt;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Отправь сообщение сам себе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Отправь широковещательное сообщение по сети класса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10497</TotalTime>
  <Application>LibreOffice/24.8.4.2$Linux_X86_64 LibreOffice_project/480$Build-2</Application>
  <AppVersion>15.0000</AppVersion>
  <Words>902</Words>
  <Paragraphs>70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2025-10-26T17:58:23Z</dcterms:created>
  <dc:creator>Елена Демидова</dc:creator>
  <dc:description/>
  <dc:language>ru-RU</dc:language>
  <cp:lastModifiedBy/>
  <dcterms:modified xsi:type="dcterms:W3CDTF">2025-11-07T12:43:02Z</dcterms:modified>
  <cp:revision>62</cp:revision>
  <dc:subject/>
  <dc:title>Сеть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10</vt:i4>
  </property>
</Properties>
</file>